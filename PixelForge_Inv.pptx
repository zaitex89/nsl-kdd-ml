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PIoBjq6ALxLUqJJMWqs2u6dB4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FF2E97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Consolas"/>
                <a:ea typeface="Consolas"/>
                <a:cs typeface="Consolas"/>
                <a:sym typeface="Consolas"/>
              </a:rPr>
              <a:t>CASE FILE  //  2026.04.30  //  CLASSIFIED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PIXELFORGE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2E97"/>
                </a:solidFill>
                <a:latin typeface="Calibri"/>
                <a:ea typeface="Calibri"/>
                <a:cs typeface="Calibri"/>
                <a:sym typeface="Calibri"/>
              </a:rPr>
              <a:t>UNDER ATTACK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Hunting threats in 125,000 network connections without a single label.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114800"/>
            <a:ext cx="8229600" cy="4572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A DATA SCIENCE INVESTIGATION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Network Intrusion Detection with Unsupervised 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SETTING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0040" y="713232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Meet PixelForge Studios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0040" y="1280160"/>
            <a:ext cx="4114800" cy="347472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02920" y="14173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🎮 PixelForge Studios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20116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Industry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965960" y="20116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Online Multiplayer Gaming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02920" y="25146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Players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965960" y="25146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12 million daily active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02920" y="301752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Flagship Title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965960" y="30175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Neon Realms (live service MMO)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2920" y="35204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Infrastructure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965960" y="35204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Global server network, 24/7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02920" y="4023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965960" y="40233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$2.4M / day in microtransactions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709160" y="1280160"/>
            <a:ext cx="4114800" cy="347472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892040" y="14173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2E97"/>
                </a:solidFill>
                <a:latin typeface="Calibri"/>
                <a:ea typeface="Calibri"/>
                <a:cs typeface="Calibri"/>
                <a:sym typeface="Calibri"/>
              </a:rPr>
              <a:t>👤 OUR ROLES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892040" y="19659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Junior Data Scientists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892040" y="2331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Security Operations Center (SOC)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892040" y="2788920"/>
            <a:ext cx="3749040" cy="36576"/>
          </a:xfrm>
          <a:prstGeom prst="rect">
            <a:avLst/>
          </a:prstGeom>
          <a:solidFill>
            <a:srgbClr val="FF2E97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892040" y="29260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2E97"/>
                </a:solidFill>
                <a:latin typeface="Consolas"/>
                <a:ea typeface="Consolas"/>
                <a:cs typeface="Consolas"/>
                <a:sym typeface="Consolas"/>
              </a:rPr>
              <a:t>THE MISSION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92040" y="3291840"/>
            <a:ext cx="3749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Detect intrusions in network traffic logs using only patterns in the data</a:t>
            </a:r>
            <a:r>
              <a:rPr lang="en-US" sz="1300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3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 no labels, no shortcuts, no excuses.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320040" y="201168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4D6D"/>
                </a:solidFill>
                <a:latin typeface="Consolas"/>
                <a:ea typeface="Consolas"/>
                <a:cs typeface="Consolas"/>
                <a:sym typeface="Consolas"/>
              </a:rPr>
              <a:t>⚠ INCIDENT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20040" y="64008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BREACH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11480" y="1554480"/>
            <a:ext cx="914400" cy="457200"/>
          </a:xfrm>
          <a:prstGeom prst="rect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11480" y="15544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03:47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417320" y="1554480"/>
            <a:ext cx="7315200" cy="4572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1554480" y="1618488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Login servers experience 400% traffic spike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11480" y="2148840"/>
            <a:ext cx="914400" cy="457200"/>
          </a:xfrm>
          <a:prstGeom prst="rect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11480" y="21488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04:02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417320" y="2148840"/>
            <a:ext cx="7315200" cy="4572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1554480" y="2212848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Players report being kicked mid-match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11480" y="2743200"/>
            <a:ext cx="914400" cy="457200"/>
          </a:xfrm>
          <a:prstGeom prst="rect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11480" y="27432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04:15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417320" y="2743200"/>
            <a:ext cx="7315200" cy="4572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554480" y="2807208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Database query latency rises from 12ms → 890ms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11480" y="3337560"/>
            <a:ext cx="914400" cy="457200"/>
          </a:xfrm>
          <a:prstGeom prst="rect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11480" y="33375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04:28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417320" y="3337560"/>
            <a:ext cx="7315200" cy="4572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554480" y="3401568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SOC triggers manual review of network logs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11480" y="3931920"/>
            <a:ext cx="914400" cy="457200"/>
          </a:xfrm>
          <a:prstGeom prst="rect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11480" y="39319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08:00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417320" y="3931920"/>
            <a:ext cx="7315200" cy="4572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554480" y="3995928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You arrive at work. The Slack channel is on fire.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D6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48640" y="4626864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0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D60A"/>
                </a:solidFill>
                <a:latin typeface="Calibri"/>
                <a:ea typeface="Calibri"/>
                <a:cs typeface="Calibri"/>
                <a:sym typeface="Calibri"/>
              </a:rPr>
              <a:t>STATUS: 125,973 connections logged overnight. No labels. No idea which are attacks.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EVIDENCE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20040" y="713232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Chapter 1  What's in the logs?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20040" y="11887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Every connection to PixelForge servers gets logged. 41 features per row. Mix of normal players, bots, scanners, and attackers all blended together.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20040" y="1920240"/>
            <a:ext cx="2011680" cy="128016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20040" y="20574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125,973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20040" y="2697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CONNECTIONS LOGGED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496312" y="1920240"/>
            <a:ext cx="2011680" cy="128016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9D4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2496312" y="20574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496312" y="2697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FEATURES PER ROW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672584" y="1920240"/>
            <a:ext cx="2011680" cy="128016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4672584" y="20574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2E97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672584" y="2697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ATTACK TYPES HIDDEN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848856" y="1920240"/>
            <a:ext cx="2011680" cy="128016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848856" y="20574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848856" y="2697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LABELS PROVIDED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20040" y="3474720"/>
            <a:ext cx="8503920" cy="1371600"/>
          </a:xfrm>
          <a:prstGeom prst="rect">
            <a:avLst/>
          </a:prstGeom>
          <a:solidFill>
            <a:srgbClr val="1F2742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502920" y="3611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F0FF"/>
                </a:solidFill>
                <a:latin typeface="Consolas"/>
                <a:ea typeface="Consolas"/>
                <a:cs typeface="Consolas"/>
                <a:sym typeface="Consolas"/>
              </a:rPr>
              <a:t>THE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" y="39776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Without labels, supervised ML is useless. We need unsupervised techniques letting the data reveal its own structure. Find the outliers. Group the suspects. Catch the attackers.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CLEANING THE CRIME SCENE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20040" y="713232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Chapter 2  Preparing the data for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20040" y="1280160"/>
            <a:ext cx="548640" cy="54864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320040" y="1280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A0E1A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60120" y="1280160"/>
            <a:ext cx="7818120" cy="54864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097280" y="13258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Drop irrelevant column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840480" y="13258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Removed 'difficulty' describes classification difficulty, not behavior.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20040" y="1993392"/>
            <a:ext cx="548640" cy="54864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20040" y="1993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A0E1A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60120" y="1993392"/>
            <a:ext cx="7818120" cy="54864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1097280" y="203911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Verify integrity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840480" y="2039112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Checked for missing values &amp; duplicates. Logs were clean.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20040" y="2706624"/>
            <a:ext cx="548640" cy="54864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20040" y="270662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A0E1A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60120" y="2706624"/>
            <a:ext cx="7818120" cy="54864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1097280" y="2752344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Encode categorical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840480" y="2752344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protocol_type, service, flag → one-hot encoded into binary columns.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20040" y="3419856"/>
            <a:ext cx="548640" cy="54864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320040" y="341985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A0E1A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60120" y="3419856"/>
            <a:ext cx="7818120" cy="54864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097280" y="346557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Create binary label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840480" y="3465576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label_binary: 0 = normal traffic, 1 = anomalous (any attack type).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20040" y="4133088"/>
            <a:ext cx="548640" cy="54864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20040" y="41330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A0E1A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960120" y="4133088"/>
            <a:ext cx="7818120" cy="54864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097280" y="417880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Standardize numeric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840480" y="41788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StandardScaler → mean=0, std=1. Prevents src_bytes from dominating distance calculations.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0040" y="489204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→ Result: 41-feature dataset, fully numeric, ready for unsupervised analysis.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PROFILING THE TRAFFIC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20040" y="713232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Chapter 3  First look: what does the data say?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0"/>
            <a:ext cx="859536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457200" y="44988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2E9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40078" y="4503418"/>
            <a:ext cx="795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53.5% of all connections are malicious. Neptune (DoS) dominates — classic flood attack against the login servers.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SUSPECTS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20040" y="713232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Four families of attacks lurking in our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20040" y="1188720"/>
            <a:ext cx="2011680" cy="36576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320040" y="13258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💥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20040" y="1920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20040" y="2286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Denial of 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94360" y="2697480"/>
            <a:ext cx="1463040" cy="27432"/>
          </a:xfrm>
          <a:prstGeom prst="rect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57200" y="28346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4D6D"/>
                </a:solidFill>
                <a:latin typeface="Consolas"/>
                <a:ea typeface="Consolas"/>
                <a:cs typeface="Consolas"/>
                <a:sym typeface="Consolas"/>
              </a:rPr>
              <a:t>neptune, smurf, 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57200" y="324612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Overwhelms login servers players can't log in. Lost revenue: ~$10K/min.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496312" y="1188720"/>
            <a:ext cx="2011680" cy="36576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D6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496312" y="13258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496312" y="1920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0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D60A"/>
                </a:solidFill>
                <a:latin typeface="Calibri"/>
                <a:ea typeface="Calibri"/>
                <a:cs typeface="Calibri"/>
                <a:sym typeface="Calibri"/>
              </a:rPr>
              <a:t>PROBE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496312" y="2286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Reconnaissance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770632" y="2697480"/>
            <a:ext cx="1463040" cy="27432"/>
          </a:xfrm>
          <a:prstGeom prst="rect">
            <a:avLst/>
          </a:prstGeom>
          <a:solidFill>
            <a:srgbClr val="FFD60A"/>
          </a:solidFill>
          <a:ln cap="flat" cmpd="sng" w="12700">
            <a:solidFill>
              <a:srgbClr val="FFD6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2633472" y="28346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0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D60A"/>
                </a:solidFill>
                <a:latin typeface="Consolas"/>
                <a:ea typeface="Consolas"/>
                <a:cs typeface="Consolas"/>
                <a:sym typeface="Consolas"/>
              </a:rPr>
              <a:t>satan, ipsweep, nmap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633472" y="324612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Scans ports for vulnerabilities. The recon before a real attack.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672584" y="1188720"/>
            <a:ext cx="2011680" cy="36576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9D4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672584" y="13258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🔓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672584" y="1920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R2L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672584" y="2286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Remote-to-Local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946904" y="2697480"/>
            <a:ext cx="1463040" cy="27432"/>
          </a:xfrm>
          <a:prstGeom prst="rect">
            <a:avLst/>
          </a:prstGeom>
          <a:solidFill>
            <a:srgbClr val="9D4EDD"/>
          </a:solidFill>
          <a:ln cap="flat" cmpd="sng" w="12700">
            <a:solidFill>
              <a:srgbClr val="9D4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809744" y="28346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D4EDD"/>
                </a:solidFill>
                <a:latin typeface="Consolas"/>
                <a:ea typeface="Consolas"/>
                <a:cs typeface="Consolas"/>
                <a:sym typeface="Consolas"/>
              </a:rPr>
              <a:t>ftp_write, warezclient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809744" y="324612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Outsiders gaining unauthorized access. Possible data theft.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848856" y="1188720"/>
            <a:ext cx="2011680" cy="36576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848856" y="13258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👑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848856" y="1920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2E97"/>
                </a:solidFill>
                <a:latin typeface="Calibri"/>
                <a:ea typeface="Calibri"/>
                <a:cs typeface="Calibri"/>
                <a:sym typeface="Calibri"/>
              </a:rPr>
              <a:t>U2R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848856" y="2286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User-to-Root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7123176" y="2697480"/>
            <a:ext cx="1463040" cy="27432"/>
          </a:xfrm>
          <a:prstGeom prst="rect">
            <a:avLst/>
          </a:prstGeom>
          <a:solidFill>
            <a:srgbClr val="FF2E97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6986016" y="28346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2E97"/>
                </a:solidFill>
                <a:latin typeface="Consolas"/>
                <a:ea typeface="Consolas"/>
                <a:cs typeface="Consolas"/>
                <a:sym typeface="Consolas"/>
              </a:rPr>
              <a:t>buffer_overflow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986016" y="324612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Privilege escalation. The most dangerous</a:t>
            </a:r>
            <a:r>
              <a:rPr lang="en-US" sz="1100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 full system control.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FIRST CLUE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20040" y="713232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Chapter 4  Compressing 41 dimensions into 2 with PCA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0"/>
            <a:ext cx="530352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5806440" y="1280160"/>
            <a:ext cx="3017520" cy="1078992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594360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🔵 Normal players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943600" y="16916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Tight cluster on the right. Predictable behavior same servers, same protocols.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806440" y="2487168"/>
            <a:ext cx="3017520" cy="1078992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5943600" y="257860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🔴 Attackers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943600" y="2898648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Scattered branches. The straight lines? DoS bots firing nearly identical packets.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806440" y="3694176"/>
            <a:ext cx="3017520" cy="1078992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D6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5943600" y="378561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0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60A"/>
                </a:solidFill>
                <a:latin typeface="Calibri"/>
                <a:ea typeface="Calibri"/>
                <a:cs typeface="Calibri"/>
                <a:sym typeface="Calibri"/>
              </a:rPr>
              <a:t>⚠ Overlap zone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943600" y="4105656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Where attackers blend in. This is where unsupervised ML earns its keep.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FOLLOWING THE CONNECTIONS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20040" y="713232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Which features move together? The correlation map.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143000"/>
            <a:ext cx="56692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/>
          <p:nvPr/>
        </p:nvSpPr>
        <p:spPr>
          <a:xfrm>
            <a:off x="6035040" y="1280160"/>
            <a:ext cx="2834640" cy="1078992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6172200" y="135331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F0FF"/>
                </a:solidFill>
                <a:latin typeface="Consolas"/>
                <a:ea typeface="Consolas"/>
                <a:cs typeface="Consolas"/>
                <a:sym typeface="Consolas"/>
              </a:rPr>
              <a:t>num_root ↔ num_compromised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172200" y="1673352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Where root access goes, compromised files follow. A privilege-escalation fingerprint.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035040" y="2487168"/>
            <a:ext cx="2834640" cy="1078992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6172200" y="25603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F0FF"/>
                </a:solidFill>
                <a:latin typeface="Consolas"/>
                <a:ea typeface="Consolas"/>
                <a:cs typeface="Consolas"/>
                <a:sym typeface="Consolas"/>
              </a:rPr>
              <a:t>same_srv_rate ↔ diff_srv_rate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172200" y="28803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Strongly negative — attackers either focus on one service or sweep many. Rarely both.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035040" y="3694176"/>
            <a:ext cx="2834640" cy="1078992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6172200" y="376732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F0FF"/>
                </a:solidFill>
                <a:latin typeface="Consolas"/>
                <a:ea typeface="Consolas"/>
                <a:cs typeface="Consolas"/>
                <a:sym typeface="Consolas"/>
              </a:rPr>
              <a:t>logged_in ↔ same_srv_rate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172200" y="408736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Logged-in users tend to stick to one service. Bots don't.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D4EDD"/>
          </a:solidFill>
          <a:ln cap="flat" cmpd="sng" w="12700">
            <a:solidFill>
              <a:srgbClr val="9D4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GROUPING THE TRAFFIC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320040" y="713232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Chapter 5  How many distinct behaviors are hiding in here?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188720"/>
            <a:ext cx="676656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7086600" y="1554480"/>
            <a:ext cx="1828800" cy="219456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9D4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7086600" y="16916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B0"/>
                </a:solidFill>
                <a:latin typeface="Consolas"/>
                <a:ea typeface="Consolas"/>
                <a:cs typeface="Consolas"/>
                <a:sym typeface="Consolas"/>
              </a:rPr>
              <a:t>OPTIMAL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7086600" y="20116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k = 7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7086600" y="31089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onsolas"/>
                <a:ea typeface="Consolas"/>
                <a:cs typeface="Consolas"/>
                <a:sym typeface="Consolas"/>
              </a:rPr>
              <a:t>Silhouette: 0.49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086600" y="33832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5A0"/>
              </a:buClr>
              <a:buSzPts val="1100"/>
              <a:buFont typeface="Consolas"/>
              <a:buNone/>
            </a:pPr>
            <a:r>
              <a:rPr b="0" i="1" lang="en-US" sz="1100" u="none" cap="none" strike="noStrike">
                <a:solidFill>
                  <a:srgbClr val="00F5A0"/>
                </a:solidFill>
                <a:latin typeface="Consolas"/>
                <a:ea typeface="Consolas"/>
                <a:cs typeface="Consolas"/>
                <a:sym typeface="Consolas"/>
              </a:rPr>
              <a:t>Well-defined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20040" y="452628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→ Tested k=2 to k=10. k=7 hits the sweet spot distinct groups without over-fragmenting.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D4EDD"/>
          </a:solidFill>
          <a:ln cap="flat" cmpd="sng" w="12700">
            <a:solidFill>
              <a:srgbClr val="9D4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LINEUP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320040" y="713232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Seven distinct behavior profiles emerge from the chaos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143000"/>
            <a:ext cx="5486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/>
          <p:nvPr/>
        </p:nvSpPr>
        <p:spPr>
          <a:xfrm>
            <a:off x="5852160" y="1280160"/>
            <a:ext cx="109728" cy="7772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6007608" y="1280160"/>
            <a:ext cx="2834640" cy="77724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6126480" y="135331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Cluster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6126480" y="166420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DoS attackers — neptune flood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852160" y="2194560"/>
            <a:ext cx="109728" cy="777240"/>
          </a:xfrm>
          <a:prstGeom prst="rect">
            <a:avLst/>
          </a:prstGeom>
          <a:solidFill>
            <a:srgbClr val="FF7C00"/>
          </a:solidFill>
          <a:ln cap="flat" cmpd="sng" w="12700">
            <a:solidFill>
              <a:srgbClr val="FF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6007608" y="2194560"/>
            <a:ext cx="2834640" cy="77724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6126480" y="226771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C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7C00"/>
                </a:solidFill>
                <a:latin typeface="Calibri"/>
                <a:ea typeface="Calibri"/>
                <a:cs typeface="Calibri"/>
                <a:sym typeface="Calibri"/>
              </a:rPr>
              <a:t>Cluster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6126480" y="257860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Probes — port scanners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852160" y="3108960"/>
            <a:ext cx="109728" cy="777240"/>
          </a:xfrm>
          <a:prstGeom prst="rect">
            <a:avLst/>
          </a:prstGeom>
          <a:solidFill>
            <a:srgbClr val="93C47D"/>
          </a:solidFill>
          <a:ln cap="flat" cmpd="sng" w="127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6007608" y="3108960"/>
            <a:ext cx="2834640" cy="77724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6126480" y="318211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Calibri"/>
                <a:ea typeface="Calibri"/>
                <a:cs typeface="Calibri"/>
                <a:sym typeface="Calibri"/>
              </a:rPr>
              <a:t>Cluster 2</a:t>
            </a:r>
            <a:endParaRPr b="0" i="0" sz="1200" u="none" cap="none" strike="noStrike">
              <a:solidFill>
                <a:srgbClr val="93C4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6126480" y="349300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Normal HTTP / game traffic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852160" y="4023360"/>
            <a:ext cx="109728" cy="777240"/>
          </a:xfrm>
          <a:prstGeom prst="rect">
            <a:avLst/>
          </a:prstGeom>
          <a:solidFill>
            <a:srgbClr val="9D4EDD"/>
          </a:solidFill>
          <a:ln cap="flat" cmpd="sng" w="12700">
            <a:solidFill>
              <a:srgbClr val="9D4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6007608" y="4023360"/>
            <a:ext cx="2834640" cy="77724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1F2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6126480" y="409651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Clusters 3-6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6126480" y="440740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Niche attack signatures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2E97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NEURAL DETECTIVE -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AUTOENCODER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320040" y="713232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Chapter 6  Training a network to know what 'normal' looks like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1211580" y="1417320"/>
            <a:ext cx="1005840" cy="1188720"/>
          </a:xfrm>
          <a:prstGeom prst="rect">
            <a:avLst/>
          </a:prstGeom>
          <a:solidFill>
            <a:srgbClr val="1F2742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1211580" y="1417320"/>
            <a:ext cx="1005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2217420" y="1984248"/>
            <a:ext cx="228600" cy="54864"/>
          </a:xfrm>
          <a:prstGeom prst="rect">
            <a:avLst/>
          </a:prstGeom>
          <a:solidFill>
            <a:srgbClr val="8892B0"/>
          </a:solidFill>
          <a:ln cap="flat" cmpd="sng" w="12700">
            <a:solidFill>
              <a:srgbClr val="889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2446020" y="1417320"/>
            <a:ext cx="640080" cy="1188720"/>
          </a:xfrm>
          <a:prstGeom prst="rect">
            <a:avLst/>
          </a:prstGeom>
          <a:solidFill>
            <a:srgbClr val="9D4EDD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2446020" y="1417320"/>
            <a:ext cx="640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3086100" y="1984248"/>
            <a:ext cx="228600" cy="54864"/>
          </a:xfrm>
          <a:prstGeom prst="rect">
            <a:avLst/>
          </a:prstGeom>
          <a:solidFill>
            <a:srgbClr val="8892B0"/>
          </a:solidFill>
          <a:ln cap="flat" cmpd="sng" w="12700">
            <a:solidFill>
              <a:srgbClr val="889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3314700" y="1417320"/>
            <a:ext cx="640080" cy="1188720"/>
          </a:xfrm>
          <a:prstGeom prst="rect">
            <a:avLst/>
          </a:prstGeom>
          <a:solidFill>
            <a:srgbClr val="9D4EDD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3314700" y="1417320"/>
            <a:ext cx="640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3954780" y="1984248"/>
            <a:ext cx="228600" cy="54864"/>
          </a:xfrm>
          <a:prstGeom prst="rect">
            <a:avLst/>
          </a:prstGeom>
          <a:solidFill>
            <a:srgbClr val="8892B0"/>
          </a:solidFill>
          <a:ln cap="flat" cmpd="sng" w="12700">
            <a:solidFill>
              <a:srgbClr val="889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4183380" y="1417320"/>
            <a:ext cx="777240" cy="1188720"/>
          </a:xfrm>
          <a:prstGeom prst="rect">
            <a:avLst/>
          </a:prstGeom>
          <a:solidFill>
            <a:srgbClr val="FF2E97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4183380" y="1417320"/>
            <a:ext cx="777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960620" y="1984248"/>
            <a:ext cx="228600" cy="54864"/>
          </a:xfrm>
          <a:prstGeom prst="rect">
            <a:avLst/>
          </a:prstGeom>
          <a:solidFill>
            <a:srgbClr val="8892B0"/>
          </a:solidFill>
          <a:ln cap="flat" cmpd="sng" w="12700">
            <a:solidFill>
              <a:srgbClr val="889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5189220" y="1417320"/>
            <a:ext cx="640080" cy="1188720"/>
          </a:xfrm>
          <a:prstGeom prst="rect">
            <a:avLst/>
          </a:prstGeom>
          <a:solidFill>
            <a:srgbClr val="9D4EDD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5189220" y="1417320"/>
            <a:ext cx="640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5829300" y="1984248"/>
            <a:ext cx="228600" cy="54864"/>
          </a:xfrm>
          <a:prstGeom prst="rect">
            <a:avLst/>
          </a:prstGeom>
          <a:solidFill>
            <a:srgbClr val="8892B0"/>
          </a:solidFill>
          <a:ln cap="flat" cmpd="sng" w="12700">
            <a:solidFill>
              <a:srgbClr val="889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6057900" y="1417320"/>
            <a:ext cx="640080" cy="1188720"/>
          </a:xfrm>
          <a:prstGeom prst="rect">
            <a:avLst/>
          </a:prstGeom>
          <a:solidFill>
            <a:srgbClr val="9D4EDD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6057900" y="1417320"/>
            <a:ext cx="640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6697980" y="1984248"/>
            <a:ext cx="228600" cy="54864"/>
          </a:xfrm>
          <a:prstGeom prst="rect">
            <a:avLst/>
          </a:prstGeom>
          <a:solidFill>
            <a:srgbClr val="8892B0"/>
          </a:solidFill>
          <a:ln cap="flat" cmpd="sng" w="12700">
            <a:solidFill>
              <a:srgbClr val="889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6926580" y="1417320"/>
            <a:ext cx="1005840" cy="1188720"/>
          </a:xfrm>
          <a:prstGeom prst="rect">
            <a:avLst/>
          </a:prstGeom>
          <a:solidFill>
            <a:srgbClr val="1F2742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6926580" y="1417320"/>
            <a:ext cx="1005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320040" y="269748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2E97"/>
                </a:solidFill>
                <a:latin typeface="Consolas"/>
                <a:ea typeface="Consolas"/>
                <a:cs typeface="Consolas"/>
                <a:sym typeface="Consolas"/>
              </a:rPr>
              <a:t>ENCODE  →  COMPRESS  →  DECODE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320040" y="3291840"/>
            <a:ext cx="2697480" cy="150876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57200" y="34290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2E97"/>
                </a:solidFill>
                <a:latin typeface="Consolas"/>
                <a:ea typeface="Consolas"/>
                <a:cs typeface="Consolas"/>
                <a:sym typeface="Consolas"/>
              </a:rPr>
              <a:t>TRAIN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57200" y="379476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Feed the network only normal traffic. It learns the patterns of legitimate players.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3182112" y="3291840"/>
            <a:ext cx="2697480" cy="150876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3319272" y="34290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2E97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3319272" y="379476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Run all traffic through. Normal = easy to reconstruct. Attacks = high error (MSE).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6044184" y="3291840"/>
            <a:ext cx="2697480" cy="150876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6181344" y="34290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2E97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6181344" y="379476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Anything above the 95th percentile of normal MSE? Anomaly. Investigate.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2E97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VERDICT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320040" y="713232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Autoencoder catches the unusual but not the obvious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0" name="Google Shape;3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188720"/>
            <a:ext cx="877824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3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457200" y="45445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594290" y="4498844"/>
            <a:ext cx="795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Rare attacks (U2R, R2L) light up with high MSE. But repetitive DoS floods? They look 'normal' to the model</a:t>
            </a:r>
            <a:r>
              <a:rPr lang="en-US" sz="1100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 uniform, predictable, easy to reconstruct.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5A0"/>
          </a:solidFill>
          <a:ln cap="flat" cmpd="sng" w="12700">
            <a:solidFill>
              <a:srgbClr val="00F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320040" y="22860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A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F5A0"/>
                </a:solidFill>
                <a:latin typeface="Calibri"/>
                <a:ea typeface="Calibri"/>
                <a:cs typeface="Calibri"/>
                <a:sym typeface="Calibri"/>
              </a:rPr>
              <a:t>CASE CLOSED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320040" y="86868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Chapter 7  What we found, what we learned, what's next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320040" y="1417320"/>
            <a:ext cx="4114800" cy="16002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9D4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457200" y="15544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4ED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D4EDD"/>
                </a:solidFill>
                <a:latin typeface="Calibri"/>
                <a:ea typeface="Calibri"/>
                <a:cs typeface="Calibri"/>
                <a:sym typeface="Calibri"/>
              </a:rPr>
              <a:t>K-Means uncovered 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57200" y="196596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Seven behavioral clusters</a:t>
            </a:r>
            <a:r>
              <a:rPr lang="en-US" sz="1100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 DoS bots, scanners, normal players, all neatly separated. Silhouette 0.49.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4709160" y="1417320"/>
            <a:ext cx="4114800" cy="16002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2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4846320" y="15544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9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2E97"/>
                </a:solidFill>
                <a:latin typeface="Calibri"/>
                <a:ea typeface="Calibri"/>
                <a:cs typeface="Calibri"/>
                <a:sym typeface="Calibri"/>
              </a:rPr>
              <a:t>Autoencoder caught the rare ones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4846320" y="196596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U2R and R2L attacks lit up with high reconstruction error. Exactly the dangerous ones we'd miss otherwise.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320040" y="3154680"/>
            <a:ext cx="4114800" cy="16002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457200" y="32918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PCA revealed the geography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457200" y="370332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Normal traffic clusters tight; attacks branch out. The visual map alone is a powerful triage tool.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4709160" y="3154680"/>
            <a:ext cx="4114800" cy="1600200"/>
          </a:xfrm>
          <a:prstGeom prst="rect">
            <a:avLst/>
          </a:prstGeom>
          <a:solidFill>
            <a:srgbClr val="151B2E"/>
          </a:solidFill>
          <a:ln cap="flat" cmpd="sng" w="12700">
            <a:solidFill>
              <a:srgbClr val="FFD6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4846320" y="32918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0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60A"/>
                </a:solidFill>
                <a:latin typeface="Calibri"/>
                <a:ea typeface="Calibri"/>
                <a:cs typeface="Calibri"/>
                <a:sym typeface="Calibri"/>
              </a:rPr>
              <a:t>Lessons for PixelForge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4846320" y="370332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6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E6F0"/>
                </a:solidFill>
                <a:latin typeface="Calibri"/>
                <a:ea typeface="Calibri"/>
                <a:cs typeface="Calibri"/>
                <a:sym typeface="Calibri"/>
              </a:rPr>
              <a:t>No single technique catches everything. Layer K-Means + Autoencoder for production. Retrain weekly.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320040" y="484632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5A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F5A0"/>
                </a:solidFill>
                <a:latin typeface="Calibri"/>
                <a:ea typeface="Calibri"/>
                <a:cs typeface="Calibri"/>
                <a:sym typeface="Calibri"/>
              </a:rPr>
              <a:t>PixelForge survives to fight another day.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2026-04-30T11:49:41Z</dcterms:created>
  <dc:creator>PptxGenJS</dc:creator>
</cp:coreProperties>
</file>